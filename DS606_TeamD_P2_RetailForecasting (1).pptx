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Items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HOBBIES</c:v>
                  </c:pt>
                  <c:pt idx="1">
                    <c:v>HOUSEHOLD</c:v>
                  </c:pt>
                  <c:pt idx="2">
                    <c:v>FOODS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1440</c:v>
                </c:pt>
                <c:pt idx="1">
                  <c:v>2310</c:v>
                </c:pt>
                <c:pt idx="2">
                  <c:v>3049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Stores by State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Stores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</c:v>
                  </c:pt>
                  <c:pt idx="1">
                    <c:v>TX</c:v>
                  </c:pt>
                  <c:pt idx="2">
                    <c:v>WI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RMSE Comparison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
Baseline</c:v>
                  </c:pt>
                  <c:pt idx="1">
                    <c:v>Moving
Average</c:v>
                  </c:pt>
                  <c:pt idx="2">
                    <c:v>LightGBM
(ours)</c:v>
                  </c:pt>
                  <c:pt idx="3">
                    <c:v>Kaggle
Best*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</c:v>
                </c:pt>
                <c:pt idx="1">
                  <c:v>3.8</c:v>
                </c:pt>
                <c:pt idx="2">
                  <c:v>2.15</c:v>
                </c:pt>
                <c:pt idx="3">
                  <c:v>1.95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10 Features by Gain (LightGBM)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lag_28</c:v>
                  </c:pt>
                  <c:pt idx="1">
                    <c:v>rmean_28</c:v>
                  </c:pt>
                  <c:pt idx="2">
                    <c:v>lag_7</c:v>
                  </c:pt>
                  <c:pt idx="3">
                    <c:v>rmean_7</c:v>
                  </c:pt>
                  <c:pt idx="4">
                    <c:v>sell_price</c:v>
                  </c:pt>
                  <c:pt idx="5">
                    <c:v>lag_14</c:v>
                  </c:pt>
                  <c:pt idx="6">
                    <c:v>rmean_14</c:v>
                  </c:pt>
                  <c:pt idx="7">
                    <c:v>lag_56</c:v>
                  </c:pt>
                  <c:pt idx="8">
                    <c:v>item_id</c:v>
                  </c:pt>
                  <c:pt idx="9">
                    <c:v>month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3200</c:v>
                </c:pt>
                <c:pt idx="1">
                  <c:v>2800</c:v>
                </c:pt>
                <c:pt idx="2">
                  <c:v>2600</c:v>
                </c:pt>
                <c:pt idx="3">
                  <c:v>2400</c:v>
                </c:pt>
                <c:pt idx="4">
                  <c:v>1800</c:v>
                </c:pt>
                <c:pt idx="5">
                  <c:v>1700</c:v>
                </c:pt>
                <c:pt idx="6">
                  <c:v>1500</c:v>
                </c:pt>
                <c:pt idx="7">
                  <c:v>1200</c:v>
                </c:pt>
                <c:pt idx="8">
                  <c:v>1100</c:v>
                </c:pt>
                <c:pt idx="9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Retail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 |  M5 Forecasting Accuracy Dataset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16352"/>
            <a:ext cx="5029200" cy="36576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–  EDA &amp; Model Construction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Amrutha Kakumani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Sitaram Suhas Chandu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Molapally Tharun Kumar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4389120"/>
            <a:ext cx="192024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440740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606  |  04/01/2026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69080" cy="1920240"/>
          </a:xfrm>
          <a:prstGeom prst="rect">
            <a:avLst>
              <a:gd name="adj" fmla="val 2381"/>
            </a:avLst>
          </a:prstGeom>
          <a:solidFill>
            <a:srgbClr val="0A1628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86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forecasts demand across 30,490 items × 10 stores × 3 states over a </a:t>
            </a:r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horizon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Inaccurate forecasts → stock-outs or waste.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069080" cy="1920240"/>
          </a:xfrm>
          <a:prstGeom prst="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886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2984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30,490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77840" y="13441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737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0848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21305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(2011–2016)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12984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0" y="13441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stores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6916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0" y="1737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CA, TX, WI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8366760" cy="1280160"/>
          </a:xfrm>
          <a:prstGeom prst="rect">
            <a:avLst>
              <a:gd name="adj" fmla="val 3571"/>
            </a:avLst>
          </a:prstGeom>
          <a:solidFill>
            <a:srgbClr val="1E3A5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9443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Regression  |  Predict daily unit sales per item-store combination  |  28-day forecast horizon  |  Hierarchical: Item → Dept → Category → Store → State → Total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74320" y="42976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https://www.kaggle.com/competitions/m5-forecasting-accuracy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https://github.com/suhaschandu/Hierarchical-Retail-Demand-Forecasting-Using-Machine-Learning-M5-Forecasting-Accuracy-Dataset-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Our Differentiation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868680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Winners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extensive lag/rolling features. WRMSSE ≈ 0.45 (best public).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10512"/>
            <a:ext cx="64008" cy="868680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56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ARIMA, ETS — baseline performance, no feature context.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16352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16352"/>
            <a:ext cx="64008" cy="868680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620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Temporal CNNs — higher complexity, mixed gains.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5760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HAVE DONE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5760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804672"/>
            <a:ext cx="4251960" cy="868680"/>
          </a:xfrm>
          <a:prstGeom prst="rect">
            <a:avLst>
              <a:gd name="adj" fmla="val 5263"/>
            </a:avLst>
          </a:prstGeom>
          <a:solidFill>
            <a:srgbClr val="0A1628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8046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8503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Baseline-First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&amp; moving average as interpretable benchmarks.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810512"/>
            <a:ext cx="4251960" cy="868680"/>
          </a:xfrm>
          <a:prstGeom prst="rect">
            <a:avLst>
              <a:gd name="adj" fmla="val 5263"/>
            </a:avLst>
          </a:prstGeom>
          <a:solidFill>
            <a:srgbClr val="0A1628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81051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8562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Focus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176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via LightGBM gain scores.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816352"/>
            <a:ext cx="4251960" cy="868680"/>
          </a:xfrm>
          <a:prstGeom prst="rect">
            <a:avLst>
              <a:gd name="adj" fmla="val 5263"/>
            </a:avLst>
          </a:prstGeom>
          <a:solidFill>
            <a:srgbClr val="0A1628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281635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8620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Analysis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182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across item/store/state levels.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822192"/>
            <a:ext cx="4251960" cy="868680"/>
          </a:xfrm>
          <a:prstGeom prst="rect">
            <a:avLst>
              <a:gd name="adj" fmla="val 5263"/>
            </a:avLst>
          </a:prstGeom>
          <a:solidFill>
            <a:srgbClr val="0A1628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822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67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Features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1879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curated features vs. 100+ in competition entries.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Makridakis et al. (2020). M5 Competition. Int. J. Forecasting, 36(1), 44–74.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Data Profiling &amp;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234440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68096"/>
            <a:ext cx="1234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08760" y="1042416"/>
            <a:ext cx="2286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749808"/>
            <a:ext cx="123444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768096"/>
            <a:ext cx="1234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(Wide→Long)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1042416"/>
            <a:ext cx="2286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749808"/>
            <a:ext cx="123444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768096"/>
            <a:ext cx="1234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042416"/>
            <a:ext cx="2286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49808"/>
            <a:ext cx="123444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768096"/>
            <a:ext cx="1234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1042416"/>
            <a:ext cx="2286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749808"/>
            <a:ext cx="123444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768096"/>
            <a:ext cx="1234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1042416"/>
            <a:ext cx="2286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749808"/>
            <a:ext cx="1234440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768096"/>
            <a:ext cx="1234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536192"/>
            <a:ext cx="274320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160934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58,327,370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432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(after melt)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2311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sales_long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1536192"/>
            <a:ext cx="274320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46120" y="160934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40,352,373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4612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feature engineering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22311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rows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536192"/>
            <a:ext cx="274320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160934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39,498,653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1792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rows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2311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pre-split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587752"/>
            <a:ext cx="274320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26609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853,720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74320" y="3063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rows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32826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28 days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46120" y="2587752"/>
            <a:ext cx="274320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46120" y="26609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246120" y="3063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46120" y="32826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2587752"/>
            <a:ext cx="2743200" cy="9144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17920" y="26609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None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217920" y="3063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32826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raw sales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 last 28 days → validation  |  All prior → training  |  Temporal split preserves time-series integrity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Key Patterns &amp; Findings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411480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749808"/>
          <a:ext cx="42062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2971800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3035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Seasonality  Strong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3310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weekly cycles detected; demand peaks on weekends (wday feature critical).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709160" y="2971800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37760" y="3035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🎄 Event Spikes  SNAP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37760" y="3310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benefit days, Super Bowl, Thanksgiving drive 20–40% demand surges.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3904488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3968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Zero Inflation  ~25%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42428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item-day records show zero sales — requires Tweedie loss handling.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09160" y="3904488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937760" y="3968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Price Sensitivity  Sell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42428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price decreases correlate strongly with demand upticks (price_norm feature).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(35 Features)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920240"/>
          </a:xfrm>
          <a:prstGeom prst="rect">
            <a:avLst>
              <a:gd name="adj" fmla="val 2381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3657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1615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lag_7  ·  lag_14  ·  lag_21  ·  lag_28  ·  lag_56  ·  lag_365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1920240"/>
          </a:xfrm>
          <a:prstGeom prst="rect">
            <a:avLst>
              <a:gd name="adj" fmla="val 2381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777240"/>
            <a:ext cx="274320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777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21615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rmean_7  ·  rmean_14  ·  rmean_28  ·  rmean_56  ·  rstd_28  ·  rolling_trend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743200" cy="1920240"/>
          </a:xfrm>
          <a:prstGeom prst="rect">
            <a:avLst>
              <a:gd name="adj" fmla="val 2381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777240"/>
            <a:ext cx="2743200" cy="365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77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121615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sell_price  ·  price_change  ·  price_norm  ·  price_roll_mean_7  ·  price_momentum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920240"/>
          </a:xfrm>
          <a:prstGeom prst="rect">
            <a:avLst>
              <a:gd name="adj" fmla="val 2381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2743200" cy="365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27355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 ·  month  ·  week  ·  day  ·  wday  ·  momentum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743200" cy="1920240"/>
          </a:xfrm>
          <a:prstGeom prst="rect">
            <a:avLst>
              <a:gd name="adj" fmla="val 2381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34640"/>
            <a:ext cx="274320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/ Events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27355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event_name_1  ·  event_type_1  ·  event_name_2  ·  event_type_2  ·  snap_CA  ·  snap_TX  ·  snap_WI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2743200" cy="1920240"/>
          </a:xfrm>
          <a:prstGeom prst="rect">
            <a:avLst>
              <a:gd name="adj" fmla="val 2381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834640"/>
            <a:ext cx="2743200" cy="365760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IDs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327355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  ·  dept_id  ·  cat_id  ·  store_id  ·  state_id  ·  sales_diff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lag/rolling features shift by the item ID group to prevent data leakage across items.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 &amp; Validation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8580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0" y="1005840"/>
            <a:ext cx="15544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—  Jan 2011 → Dec 2015  (39.5 M rows)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0" y="1572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~Dec 2015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28 days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084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6829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shuffling — training always precedes validation to avoid leakage.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011680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084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28-day hold-out?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36829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M5 competition's official test window for fair benchmark comparison.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k-fold CV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0098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time-series; fold boundaries could leak future data into training.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44368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Transform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30098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transformed with log1p to reduce skewness and stabilize variance.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877056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Tweedie Objective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2336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zero-inflated sales data better than standard MSE objective.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877056"/>
            <a:ext cx="42062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(300)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336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trained up to 3,500 rounds; stopped at round 184 (best val score).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39,498,653 rows  |  Valid: 853,720 rows  |  Features: 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LightGBM – Architecture &amp; Hyperparameters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50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Tweedie (variance power 1.1)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04672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850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078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72184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517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Leaves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472184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517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Data in Leaf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746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185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Fraction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139696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185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Fraction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 (freq=1)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807208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852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081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807208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852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081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Rounds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rounds patience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142232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4187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Round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4416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09160" y="4142232"/>
            <a:ext cx="416052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4187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4416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(val score 0.487)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LightGBM? — Leaf-wise tree growth, native categorical support, handles 40M+ rows efficiently.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WRMSSE Instead of RMSE?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955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WRMSSE  =  Σ  wᵢ · RMSSE(i)  </a:t>
            </a:r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where  wᵢ = revenue share of item i  (last 28-day window)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ALONE FAILS HERE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4023360" cy="841248"/>
          </a:xfrm>
          <a:prstGeom prst="rect">
            <a:avLst/>
          </a:prstGeom>
          <a:solidFill>
            <a:srgbClr val="1A0A0A"/>
          </a:solidFill>
          <a:ln w="12700">
            <a:solidFill>
              <a:srgbClr val="3D15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38528"/>
            <a:ext cx="64008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84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Scale blind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high-volume FOODS item selling 200 units/day dominates the error vs. a HOBBIES item selling 1 unit/day — RMSE treats them equally.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98648"/>
            <a:ext cx="4023360" cy="841248"/>
          </a:xfrm>
          <a:prstGeom prst="rect">
            <a:avLst/>
          </a:prstGeom>
          <a:solidFill>
            <a:srgbClr val="1A0A0A"/>
          </a:solidFill>
          <a:ln w="12700">
            <a:solidFill>
              <a:srgbClr val="3D15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98648"/>
            <a:ext cx="64008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944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business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1-unit error on a $0.50 item and a $50 item contribute identically — ignores actual revenue impact.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858768"/>
            <a:ext cx="4023360" cy="841248"/>
          </a:xfrm>
          <a:prstGeom prst="rect">
            <a:avLst/>
          </a:prstGeom>
          <a:solidFill>
            <a:srgbClr val="1A0A0A"/>
          </a:solidFill>
          <a:ln w="12700">
            <a:solidFill>
              <a:srgbClr val="3D15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858768"/>
            <a:ext cx="64008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904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M5-comparable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Kaggle leaderboard uses WRMSSE. Reporting plain RMSE gives no benchmark against prior work.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57276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WRMSSE SOLVES ALL THREE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938528"/>
            <a:ext cx="4160520" cy="84124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938528"/>
            <a:ext cx="64008" cy="8412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984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Scale-normalized (RMSSE)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each item's error by the naive forecast variance — so a slow-moving hobby item and a fast-moving food item are judged on equal footing.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898648"/>
            <a:ext cx="4160520" cy="84124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898648"/>
            <a:ext cx="64008" cy="8412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944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Revenue-weighted (W)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with higher sales revenue get higher weight wᵢ. A forecast miss on a top-selling product costs more — and is penalized more.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4160520" cy="84124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858768"/>
            <a:ext cx="64008" cy="8412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904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Official M5 metric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206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all 5,000+ Kaggle competition entries. Our WRMSSE = 0.861 is directly comparable to the best public score of ≈ 0.45.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472744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RMSE (internal training monitor) + WRMSSE (business-aligned, benchmark-comparable final metric)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01168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201168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(log-space)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749808"/>
            <a:ext cx="201168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749808"/>
            <a:ext cx="20116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144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 scale)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749808"/>
            <a:ext cx="201168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749808"/>
            <a:ext cx="201168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9144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17720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WRMSSE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749808"/>
            <a:ext cx="201168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749808"/>
            <a:ext cx="20116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9144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184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12280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Iteration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3,500)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1762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Convergence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1460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" name="Chart 0" descr=""/>
          <p:cNvGraphicFramePr/>
          <p:nvPr/>
        </p:nvGraphicFramePr>
        <p:xfrm>
          <a:off x="4480560" y="2176272"/>
          <a:ext cx="43891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1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*Kaggle best WRMSSE ≈ 0.45 | Our WRMSSE = 0.861 | Baseline gap: ours outperforms naive &amp; moving avg by 56% &amp; 43%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Model Interpretability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749808"/>
            <a:ext cx="324612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822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Lag-28 &amp; Rolling Mean-28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60720" y="11612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patterns dominate — consumers re-buy on ~4-week cycles.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1819656"/>
            <a:ext cx="324612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892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Lag-7 &amp; Rolling Mean-7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760720" y="22311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seasonality is the second strongest signal in retail demand.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889504"/>
            <a:ext cx="324612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29626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Sell Price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60720" y="330098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changes directly influence purchase decisions — elasticity captured.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959352"/>
            <a:ext cx="324612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40325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Temporal (month/week/day)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60720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effects explain holiday, end-of-month spending patterns.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computed via LightGBM split gain. Lag features confirm that recent history is the strongest predictor.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261872"/>
          </a:xfrm>
          <a:prstGeom prst="rect">
            <a:avLst>
              <a:gd name="adj" fmla="val 3623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77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7552" y="8961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Reconciliation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26187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bottom-up &amp; optimal reconciliation to align forecasts across item → store → state levels.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1261872"/>
          </a:xfrm>
          <a:prstGeom prst="rect">
            <a:avLst>
              <a:gd name="adj" fmla="val 3623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77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22392" y="8961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22392" y="126187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Naive &amp; Moving Average as interpretable benchmarks for rigorous comparison.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60520" cy="1261872"/>
          </a:xfrm>
          <a:prstGeom prst="rect">
            <a:avLst>
              <a:gd name="adj" fmla="val 3623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552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651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/ Bayesian search on num_leaves, learning_rate, bagging to push WRMSSE below 0.75.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4160520" cy="1261872"/>
          </a:xfrm>
          <a:prstGeom prst="rect">
            <a:avLst>
              <a:gd name="adj" fmla="val 3623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22392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WRMSSE Improvement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22392" y="2651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WRMSSE = 0.861; target to improve toward leaderboard range ≤ 0.55.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4160520" cy="1261872"/>
          </a:xfrm>
          <a:prstGeom prst="rect">
            <a:avLst>
              <a:gd name="adj" fmla="val 3623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7552" y="3675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40416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item-store combos with highest errors; investigate zero-sale items separately.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584448"/>
            <a:ext cx="4160520" cy="1261872"/>
          </a:xfrm>
          <a:prstGeom prst="rect">
            <a:avLst>
              <a:gd name="adj" fmla="val 3623"/>
            </a:avLst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22392" y="3675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Documentation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22392" y="40416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reproducible pipeline, update GitHub README with full results &amp; plots.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https://github.com/suhaschandu/Hierarchical-Retail-Demand-Forecasting-Using-Machine-Learning-M5-Forecasting-Accuracy-Dataset-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Kaggle (2020). M5 Forecasting Accuracy Dataset. https://www.kaggle.com/competitions/m5-forecasting-accuracy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Makridakis, S., Spiliotis, E., Assimakopoulos, V., &amp; Nikolopoulos, K. (2020). The M5 Accuracy Competition: Results, Findings and Conclusions. Int. J. Forecasting, 36(1), 44–74.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Hyndman, R.J. &amp; Athanasopoulos, G. (2018). Forecasting: Principles and Practice (2nd ed.). OTexts. https://otexts.com/fpp2/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7977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Microsoft (2017). LightGBM Documentation. https://lightgbm.readthedocs.io/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38144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Januschowski, T. et al. (2020). Criteria for classifying forecasting methods. Int. J. Forecasting, 36(1), 167–177.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0965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Team GitHub Repository: https://github.com/suhaschandu/Hierarchical-Retail-Demand-Forecasting-Using-Machine-Learning-M5-Forecasting-Accuracy-Dataset-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Retail Demand Forecasting – P2</dc:title>
  <dc:subject>PptxGenJS Presentation</dc:subject>
  <dc:creator>PptxGenJS</dc:creator>
  <cp:lastModifiedBy>PptxGenJS</cp:lastModifiedBy>
  <cp:revision>1</cp:revision>
  <dcterms:created xsi:type="dcterms:W3CDTF">2026-04-01T19:00:53Z</dcterms:created>
  <dcterms:modified xsi:type="dcterms:W3CDTF">2026-04-01T19:00:53Z</dcterms:modified>
</cp:coreProperties>
</file>